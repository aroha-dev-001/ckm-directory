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6364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0" y="0"/>
            <a:ext cx="640080" cy="6858000"/>
          </a:xfrm>
          <a:prstGeom prst="rect">
            <a:avLst/>
          </a:prstGeom>
          <a:solidFill>
            <a:srgbClr val="0C1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54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LIVE DISTRICT OS  ·  NOT A BOOKING SITE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5669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3200" b="1" i="0">
                <a:solidFill>
                  <a:srgbClr val="FCFBF8"/>
                </a:solidFill>
                <a:latin typeface="Noto Serif Display"/>
                <a:ea typeface="Noto Serif Display"/>
                <a:cs typeface="Noto Serif Display"/>
              </a:rPr>
              <a:t>A companion for Chikkamagaluru.</a:t>
            </a:r>
          </a:p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C8AE6E"/>
                </a:solidFill>
                <a:latin typeface="Noto Serif Display"/>
                <a:ea typeface="Noto Serif Display"/>
                <a:cs typeface="Noto Serif Display"/>
              </a:rPr>
              <a:t>Map, nature, coffee walk, grounded mascot. Already live.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709160"/>
            <a:ext cx="5394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chikkamagaluru-companion.vercel.app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CFBF8"/>
                </a:solidFill>
                <a:latin typeface="Inter"/>
                <a:ea typeface="Inter"/>
                <a:cs typeface="Inter"/>
              </a:rPr>
              <a:t>Close  ₹8.5L + GST     AMC  ₹1.8L /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Chikkamagaluru Companion  ·  Pitch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65392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3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01  ·  LIVE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Open these. The deck is the demo.</a:t>
            </a:r>
          </a:p>
        </p:txBody>
      </p:sp>
      <p:pic>
        <p:nvPicPr>
          <p:cNvPr id="6" name="Picture 5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43000"/>
            <a:ext cx="2788920" cy="3246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4462272"/>
            <a:ext cx="2788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Home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Five stills, editorial type</a:t>
            </a:r>
          </a:p>
        </p:txBody>
      </p:sp>
      <p:pic>
        <p:nvPicPr>
          <p:cNvPr id="8" name="Picture 7" descr="na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143000"/>
            <a:ext cx="2788920" cy="3246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37560" y="4462272"/>
            <a:ext cx="2788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Nature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Seasons you can walk</a:t>
            </a:r>
          </a:p>
        </p:txBody>
      </p:sp>
      <p:pic>
        <p:nvPicPr>
          <p:cNvPr id="10" name="Picture 9" descr="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143000"/>
            <a:ext cx="2788920" cy="3246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63640" y="4462272"/>
            <a:ext cx="2788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Map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Nine current taluks</a:t>
            </a:r>
          </a:p>
        </p:txBody>
      </p:sp>
      <p:pic>
        <p:nvPicPr>
          <p:cNvPr id="12" name="Picture 11" descr="bt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0" y="1143000"/>
            <a:ext cx="2788920" cy="3246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189720" y="4462272"/>
            <a:ext cx="2788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Bean to cup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Filter coffee close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3492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Also: popular carousel (Deviramma Temple, Mallenahalli)  ·  Ask Chikku (district-only, 1–5 day sketches, iOS-safe)  ·  EN + Kannada  ·  no rooms, no fake Book now.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6539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Chikkamagaluru Companion  ·  Pitch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565392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3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02  ·  WHY THIS IS NOT A ₹3L BROCHURE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Already built. Agencies charge extra for each row.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99032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Taluk map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Nine current OSM taluks. Places open on the taluk page, not a pin salad.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43000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1399032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Nature hub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Seasons, ridges, water, permit forests. Kudremukh / Bhadra are not a live gate.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143000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9328" y="1399032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Bean to Cup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15-beat walk: Baba Budan → Mocha → shade → filter coffee. Not a shop.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11880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867912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Ask Chikku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Tiger mascot. Stays on this district. Refuses off-topic. Streams answers.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611880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3867912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Sourced hours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District, forest, Sringeri, Horanadu links. Fees stay on their pages.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3611880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8" y="3867912"/>
            <a:ext cx="3246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Bilingual + licences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EN / Kannada. Commons stills with named artists. Defensible in review.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6539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Chikkamagaluru Companion  ·  Pitch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565392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3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03  ·  INDIA MARKET 2025–26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What other agencies charge vs this live OS.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43000"/>
          <a:ext cx="1124712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023360"/>
                <a:gridCol w="2560320"/>
                <a:gridCol w="22860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CFBF8"/>
                          </a:solidFill>
                          <a:latin typeface="Inter"/>
                          <a:ea typeface="Inter"/>
                          <a:cs typeface="Inter"/>
                        </a:rPr>
                        <a:t>Tier</a:t>
                      </a:r>
                    </a:p>
                  </a:txBody>
                  <a:tcPr>
                    <a:solidFill>
                      <a:srgbClr val="1436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CFBF8"/>
                          </a:solidFill>
                          <a:latin typeface="Inter"/>
                          <a:ea typeface="Inter"/>
                          <a:cs typeface="Inter"/>
                        </a:rPr>
                        <a:t>What they ship</a:t>
                      </a:r>
                    </a:p>
                  </a:txBody>
                  <a:tcPr>
                    <a:solidFill>
                      <a:srgbClr val="1436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CFBF8"/>
                          </a:solidFill>
                          <a:latin typeface="Inter"/>
                          <a:ea typeface="Inter"/>
                          <a:cs typeface="Inter"/>
                        </a:rPr>
                        <a:t>Typical fee</a:t>
                      </a:r>
                    </a:p>
                  </a:txBody>
                  <a:tcPr>
                    <a:solidFill>
                      <a:srgbClr val="14361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CFBF8"/>
                          </a:solidFill>
                          <a:latin typeface="Inter"/>
                          <a:ea typeface="Inter"/>
                          <a:cs typeface="Inter"/>
                        </a:rPr>
                        <a:t>Time</a:t>
                      </a:r>
                    </a:p>
                  </a:txBody>
                  <a:tcPr>
                    <a:solidFill>
                      <a:srgbClr val="14361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Freelance WordPress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5–8 pages, slider, contact form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₹25k – ₹80k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2–4 weeks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Local Bengaluru agency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10–20 pages, enquiry, WhatsApp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₹1.5L – ₹4L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8–14 weeks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Tourism boutique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Custom UI + booking iframe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₹4L – ₹8L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10–16 weeks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Premium studio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Motion, CMS, campaign site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₹10L – ₹25L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16–24 weeks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DTPC / govt tender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Portal, bilingual, AMC, often ugly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₹8L – ₹40L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Tender cycle</a:t>
                      </a:r>
                    </a:p>
                  </a:txBody>
                  <a:tcPr>
                    <a:solidFill>
                      <a:srgbClr val="FCFBF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This companion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Map, catalogue, coffee walk, Chikku, EN+KN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Close ₹8.5L + GST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C1F13"/>
                          </a:solidFill>
                          <a:latin typeface="Inter"/>
                          <a:ea typeface="Inter"/>
                          <a:cs typeface="Inter"/>
                        </a:rPr>
                        <a:t>14-day handover</a:t>
                      </a:r>
                    </a:p>
                  </a:txBody>
                  <a:tcPr>
                    <a:solidFill>
                      <a:srgbClr val="FBFA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80644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Rebuild from scratch at ₹10–15k/day × 2 people × 16–20 weeks is ₹12–20L. You are buying finished inventory. AMC in this market is 15–25% of build (here: ₹1.8L).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Chikkamagaluru Companion  ·  Pitch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65392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3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04  ·  THE OFFER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One number to close. Extras on a second invoice.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2788920" cy="196596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28016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A88C4A"/>
                </a:solidFill>
                <a:latin typeface="Inter"/>
                <a:ea typeface="Inter"/>
                <a:cs typeface="Inter"/>
              </a:rPr>
              <a:t>LIST</a:t>
            </a:r>
          </a:p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₹9.9L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Open here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143000"/>
            <a:ext cx="2788920" cy="1965960"/>
          </a:xfrm>
          <a:prstGeom prst="roundRect">
            <a:avLst>
              <a:gd name="adj" fmla="val 8000"/>
            </a:avLst>
          </a:prstGeom>
          <a:solidFill>
            <a:srgbClr val="14361F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2" y="128016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CLOSE</a:t>
            </a:r>
          </a:p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CFBF8"/>
                </a:solidFill>
                <a:latin typeface="Noto Serif Display"/>
                <a:ea typeface="Noto Serif Display"/>
                <a:cs typeface="Noto Serif Display"/>
              </a:rPr>
              <a:t>₹8.5L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F5F1E8"/>
                </a:solidFill>
                <a:latin typeface="Inter"/>
                <a:ea typeface="Inter"/>
                <a:cs typeface="Inter"/>
              </a:rPr>
              <a:t>Target + GST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143000"/>
            <a:ext cx="2788920" cy="196596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28016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A88C4A"/>
                </a:solidFill>
                <a:latin typeface="Inter"/>
                <a:ea typeface="Inter"/>
                <a:cs typeface="Inter"/>
              </a:rPr>
              <a:t>WALK-AWAY</a:t>
            </a:r>
          </a:p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₹7.5L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As-live only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143000"/>
            <a:ext cx="2788920" cy="196596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00032" y="1280160"/>
            <a:ext cx="2468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A88C4A"/>
                </a:solidFill>
                <a:latin typeface="Inter"/>
                <a:ea typeface="Inter"/>
                <a:cs typeface="Inter"/>
              </a:rPr>
              <a:t>AMC</a:t>
            </a:r>
          </a:p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0C1F13"/>
                </a:solidFill>
                <a:latin typeface="Noto Serif Display"/>
                <a:ea typeface="Noto Serif Display"/>
                <a:cs typeface="Noto Serif Display"/>
              </a:rPr>
              <a:t>₹1.8L/yr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Copy, Chikku, stats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461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In the close: domain, Vercel, 14-day wordmark pass, featured eight + Chikku lines, 90-day hypercare, one training session. Floor ₹5L — do not.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86200"/>
            <a:ext cx="1828800" cy="219456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4023360"/>
            <a:ext cx="16093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C1F13"/>
                </a:solidFill>
                <a:latin typeface="Inter"/>
                <a:ea typeface="Inter"/>
                <a:cs typeface="Inter"/>
              </a:rPr>
              <a:t>Live LLM Chikku</a:t>
            </a:r>
          </a:p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A88C4A"/>
                </a:solidFill>
                <a:latin typeface="Inter"/>
                <a:ea typeface="Inter"/>
                <a:cs typeface="Inter"/>
              </a:rPr>
              <a:t>₹1.5–2.5L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7440" y="3886200"/>
            <a:ext cx="1828800" cy="219456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87168" y="4023360"/>
            <a:ext cx="16093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C1F13"/>
                </a:solidFill>
                <a:latin typeface="Inter"/>
                <a:ea typeface="Inter"/>
                <a:cs typeface="Inter"/>
              </a:rPr>
              <a:t>Hours CMS</a:t>
            </a:r>
          </a:p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A88C4A"/>
                </a:solidFill>
                <a:latin typeface="Inter"/>
                <a:ea typeface="Inter"/>
                <a:cs typeface="Inter"/>
              </a:rPr>
              <a:t>₹2–2.5L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886200"/>
            <a:ext cx="1828800" cy="219456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07408" y="4023360"/>
            <a:ext cx="16093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C1F13"/>
                </a:solidFill>
                <a:latin typeface="Inter"/>
                <a:ea typeface="Inter"/>
                <a:cs typeface="Inter"/>
              </a:rPr>
              <a:t>Film / stills</a:t>
            </a:r>
          </a:p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A88C4A"/>
                </a:solidFill>
                <a:latin typeface="Inter"/>
                <a:ea typeface="Inter"/>
                <a:cs typeface="Inter"/>
              </a:rPr>
              <a:t>₹1.5–4L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886200"/>
            <a:ext cx="1828800" cy="219456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4023360"/>
            <a:ext cx="16093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C1F13"/>
                </a:solidFill>
                <a:latin typeface="Inter"/>
                <a:ea typeface="Inter"/>
                <a:cs typeface="Inter"/>
              </a:rPr>
              <a:t>Second district</a:t>
            </a:r>
          </a:p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A88C4A"/>
                </a:solidFill>
                <a:latin typeface="Inter"/>
                <a:ea typeface="Inter"/>
                <a:cs typeface="Inter"/>
              </a:rPr>
              <a:t>~60% of first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886200"/>
            <a:ext cx="1828800" cy="219456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7888" y="4023360"/>
            <a:ext cx="16093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C1F13"/>
                </a:solidFill>
                <a:latin typeface="Inter"/>
                <a:ea typeface="Inter"/>
                <a:cs typeface="Inter"/>
              </a:rPr>
              <a:t>Hindi / Tulu</a:t>
            </a:r>
          </a:p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A88C4A"/>
                </a:solidFill>
                <a:latin typeface="Inter"/>
                <a:ea typeface="Inter"/>
                <a:cs typeface="Inter"/>
              </a:rPr>
              <a:t>₹0.8–1.2L each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58400" y="3886200"/>
            <a:ext cx="1828800" cy="219456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68128" y="4023360"/>
            <a:ext cx="16093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1" i="0">
                <a:solidFill>
                  <a:srgbClr val="0C1F13"/>
                </a:solidFill>
                <a:latin typeface="Inter"/>
                <a:ea typeface="Inter"/>
                <a:cs typeface="Inter"/>
              </a:rPr>
              <a:t>WhatsApp Chikku</a:t>
            </a:r>
          </a:p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A88C4A"/>
                </a:solidFill>
                <a:latin typeface="Inter"/>
                <a:ea typeface="Inter"/>
                <a:cs typeface="Inter"/>
              </a:rPr>
              <a:t>₹2–3L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6539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Chikkamagaluru Companion  ·  Pitch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565392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A6B5E"/>
                </a:solidFill>
                <a:latin typeface="Inter"/>
                <a:ea typeface="Inter"/>
                <a:cs typeface="Inter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F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A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05  ·  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71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CFBF8"/>
                </a:solidFill>
                <a:latin typeface="Noto Serif Display"/>
                <a:ea typeface="Noto Serif Display"/>
                <a:cs typeface="Noto Serif Display"/>
              </a:rPr>
              <a:t>If we put your wordmark on this URL in 14 days, who signs?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3063240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0A1810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3200400"/>
            <a:ext cx="32004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Private / coffee / DMO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5F1E8"/>
                </a:solidFill>
                <a:latin typeface="Inter"/>
                <a:ea typeface="Inter"/>
                <a:cs typeface="Inter"/>
              </a:rPr>
              <a:t>Close ₹8.5L + GST. Proof: Bean to Cup, then Chikku “2-day sketch”.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063240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0A1810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3200400"/>
            <a:ext cx="32004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DTPC / tender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5F1E8"/>
                </a:solidFill>
                <a:latin typeface="Inter"/>
                <a:ea typeface="Inter"/>
                <a:cs typeface="Inter"/>
              </a:rPr>
              <a:t>Shape as ₹12–16L all-in (GST, training, year-1 AMC). Proof: Nature + map.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3063240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0A1810"/>
          </a:solidFill>
          <a:ln>
            <a:solidFill>
              <a:srgbClr val="D9D3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5048" y="3200400"/>
            <a:ext cx="320040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Do not sell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F5F1E8"/>
                </a:solidFill>
                <a:latin typeface="Inter"/>
                <a:ea typeface="Inter"/>
                <a:cs typeface="Inter"/>
              </a:rPr>
              <a:t>Booking engine, fake fees, OTA clone. That is a different product.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4406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Then stop talking.  ·  chikkamagaluru-companion.vercel.app/nature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6539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Chikkamagaluru Companion  ·  Pitch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565392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C8AE6E"/>
                </a:solidFill>
                <a:latin typeface="Inter"/>
                <a:ea typeface="Inter"/>
                <a:cs typeface="Inter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